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SemiBold" panose="020F0502020204030204" pitchFamily="2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2675" y="3201441"/>
            <a:ext cx="7486650" cy="16171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5392" y="1277391"/>
            <a:ext cx="972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AEROTHON 2026 - HAL x IITI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9350" y="2115591"/>
            <a:ext cx="7353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24175" y="3611016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Team Name: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Zypher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24175" y="4071937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Participants: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Anurag | IIT Indore Aerothon 2026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4944825"/>
            <a:ext cx="1639300" cy="17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687" y="5107975"/>
            <a:ext cx="3925114" cy="16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SERIES-HYBRID VTOL CHALLENGE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UNDERSTANDING &amp; MOTIVATION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MTOW: 1,000 kg | Payload: 200 kg | Cruise: 250 km/h
• Altitude: 3,000–10,000 m | VTOL capability required
• Goal: maximise endurance while meeting all HAL constraints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Shape 114"/><p:cNvGrpSpPr/><p:nvPr/></p:nvGrpSpPr><p:grpSpPr><a:xfrm><a:off x="0" y="0"/><a:ext cx="0" cy="0"/><a:chOff x="0" y="0"/><a:chExt cx="0" cy="0"/></a:xfrm></p:grpSpPr><p:pic><p:nvPicPr><p:cNvPr id="115" name="Google Shape;115;p15" descr="image.png"/><p:cNvPicPr preferRelativeResize="0"/><p:nvPr/></p:nvPicPr><p:blipFill rotWithShape="1"><a:blip r:embed="rId3"><a:alphaModFix/></a:blip><a:srcRect/><a:stretch/></p:blipFill><p:spPr><a:xfrm><a:off x="0" y="0"/><a:ext cx="12192000" cy="6858000"/></a:xfrm><a:prstGeom prst="rect"><a:avLst/></a:prstGeom><a:noFill/><a:ln><a:noFill/></a:ln></p:spPr></p:pic><p:pic><p:nvPicPr><p:cNvPr id="116" name="Google Shape;116;p15" descr="image.png"/><p:cNvPicPr preferRelativeResize="0"/><p:nvPr/></p:nvPicPr><p:blipFill rotWithShape="1"><a:blip r:embed="rId4"><a:alphaModFix/></a:blip><a:srcRect/><a:stretch/></p:blipFill><p:spPr><a:xfrm><a:off x="762000" y="1733550"/><a:ext cx="8572500" cy="2481857"/></a:xfrm><a:prstGeom prst="rect"><a:avLst/></a:prstGeom><a:noFill/><a:ln><a:noFill/></a:ln></p:spPr></p:pic><p:sp><p:nvSpPr><p:cNvPr id="119" name="Google Shape;119;p15"/><p:cNvSpPr txBox="1"/><p:nvPr/></p:nvSpPr><p:spPr><a:xfrm><a:off x="952500" y="571500"/><a:ext cx="11001375" cy="495300"/></a:xfrm><a:prstGeom prst="rect"><a:avLst/></a:prstGeom><a:noFill/><a:ln><a:noFill/></a:ln></p:spPr><p:txBody><a:bodyPr spcFirstLastPara="1" wrap="square" lIns="0" tIns="0" rIns="0" bIns="0" anchor="t" anchorCtr="0"><a:spAutoFit/></a:bodyPr><a:lstStyle/><a:p><a:pPr marL="0" marR="0" lvl="0" indent="0" algn="l" rtl="0"><a:spcBef><a:spcPts val="0"/></a:spcBef><a:spcAft><a:spcPts val="0"/></a:spcAft><a:buNone/></a:pPr><a:r><a:rPr lang="en-US" sz="3150" b="1" i="0" u="none" strike="noStrike" cap="none"><a:solidFill><a:srgbClr val="0F172A"/></a:solidFill><a:latin typeface="Montserrat"/><a:ea typeface="Montserrat"/><a:cs typeface="Montserrat"/><a:sym typeface="Montserrat"/></a:rPr><a:t>LITERATURE REVIEW / EXISTING APPROACHES</a:t></a:r><a:endParaRPr/></a:p></p:txBody></p:sp><p:sp><p:nvSpPr><p:cNvPr id="120" name="Google Shape;120;p15"/><p:cNvSpPr/><p:nvPr/></p:nvSpPr><p:spPr><a:xfrm><a:off x="762000" y="571500"/><a:ext cx="57150" cy="495300"/></a:xfrm><a:prstGeom prst="rect"><a:avLst/></a:prstGeom><a:solidFill><a:srgbClr val="0284C7"/></a:soli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spcBef><a:spcPts val="0"/></a:spcBef><a:spcAft><a:spcPts val="0"/></a:spcAft><a:buNone/></a:pPr><a:endParaRPr sz="1800" b="0" i="0" u="none" strike="noStrike" cap="none"><a:solidFill><a:schemeClr val="dk1"/></a:solidFill><a:latin typeface="Calibri"/><a:ea typeface="Calibri"/><a:cs typeface="Calibri"/><a:sym typeface="Calibri"/></a:endParaRPr></a:p></p:txBody></p:sp><p:sp><p:nvSpPr><p:cNvPr id="125" name="Google Shape;125;p15"/><p:cNvSpPr txBox="1"/><p:nvPr/></p:nvSpPr><p:spPr><a:xfrm><a:off x="5800725" y="6248400"/><a:ext cx="590700" cy="184800"/></a:xfrm><a:prstGeom prst="rect"><a:avLst/></a:prstGeom><a:noFill/><a:ln><a:noFill/></a:ln></p:spPr><p:txBody><a:bodyPr spcFirstLastPara="1" wrap="square" lIns="0" tIns="0" rIns="0" bIns="0" anchor="t" anchorCtr="0"><a:spAutoFit/></a:bodyPr><a:lstStyle/><a:p><a:pPr marL="0" marR="0" lvl="0" indent="0" algn="ctr" rtl="0"><a:spcBef><a:spcPts val="0"/></a:spcBef><a:spcAft><a:spcPts val="0"/></a:spcAft><a:buNone/></a:pPr><a:r><a:rPr lang="en-US" sz="1200" b="0" i="0" u="none" strike="noStrike" cap="none"><a:solidFill><a:srgbClr val="64748B"/></a:solidFill><a:latin typeface="Montserrat SemiBold"/><a:ea typeface="Montserrat SemiBold"/><a:cs typeface="Montserrat SemiBold"/><a:sym typeface="Montserrat SemiBold"/></a:rPr><a:t>Page </a:t></a:r><a:r><a:rPr lang="en-US" sz="1200"><a:solidFill><a:srgbClr val="64748B"/></a:solidFill><a:latin typeface="Montserrat SemiBold"/><a:ea typeface="Montserrat SemiBold"/><a:cs typeface="Montserrat SemiBold"/><a:sym typeface="Montserrat SemiBold"/></a:rPr><a:t>2</a:t></a:r><a:endParaRPr/></a:p></p:txBody></p:sp><p:pic><p:nvPicPr><p:cNvPr id="126" name="Google Shape;126;p15"/><p:cNvPicPr preferRelativeResize="0"/><p:nvPr/></p:nvPicPr><p:blipFill><a:blip r:embed="rId5"><a:alphaModFix/></a:blip><a:stretch><a:fillRect/></a:stretch></p:blipFill><p:spPr><a:xfrm><a:off x="169750" y="5875049"/><a:ext cx="782750" cy="850076"/></a:xfrm><a:prstGeom prst="rect"><a:avLst/></a:prstGeom><a:noFill/><a:ln><a:noFill/></a:ln></p:spPr></p:pic><p:pic><p:nvPicPr><p:cNvPr id="127" name="Google Shape;127;p15"/><p:cNvPicPr preferRelativeResize="0"/><p:nvPr/></p:nvPicPr><p:blipFill><a:blip r:embed="rId6"><a:alphaModFix/></a:blip><a:stretch><a:fillRect/></a:stretch></p:blipFill><p:spPr><a:xfrm><a:off x="10013509" y="5875050"/><a:ext cx="2063291" cy="850075"/></a:xfrm><a:prstGeom prst="rect"><a:avLst/></a:prstGeom><a:noFill/><a:ln><a:noFill/></a:ln></p:spPr></p:pic><p:sp><p:nvSpPr><p:cNvPr id="4" name="Google Shape;98;p14"><a:extLst><a:ext uri="{FF2B5EF4-FFF2-40B4-BE49-F238E27FC236}"><a16:creationId xmlns:a16="http://schemas.microsoft.com/office/drawing/2014/main" id="{3FCAE9A5-D5BC-FD02-1037-7A44538C6E12}"/></a:ext></a:extLst></p:cNvPr><p:cNvSpPr txBox="1"/><p:nvPr/></p:nvSpPr><p:spPr><a:xfrm><a:off x="1181100" y="1924050"/><a:ext cx="7772400" cy="209550"/></a:xfrm><a:prstGeom prst="rect"><a:avLst/></a:prstGeom><a:noFill/><a:ln><a:noFill/></a:ln></p:spPr><p:txBody><a:bodyPr spcFirstLastPara="1" wrap="square" lIns="142875" tIns="0" rIns="0" bIns="0" anchor="t" anchorCtr="0"><a:spAutoFit/></a:bodyPr><a:lstStyle/><a:p><a:pPr marL="0" marR="0" lvl="0" indent="0" algn="l" rtl="0"><a:spcBef><a:spcPts val="0"/></a:spcBef><a:spcAft><a:spcPts val="0"/></a:spcAft><a:buNone/></a:pPr><a:r><a:rPr lang="en-US" sz="1350" b="0" i="0" u="none" strike="noStrike" cap="none" dirty="0"><a:solidFill><a:srgbClr val="0369A1"/></a:solidFill><a:latin typeface="Montserrat SemiBold"/><a:ea typeface="Montserrat SemiBold"/><a:cs typeface="Montserrat SemiBold"/><a:sym typeface="Montserrat SemiBold"/></a:rPr><a:t>STATE OF THE ART</a:t></a:r><a:endParaRPr dirty="0"/></a:p></p:txBody></p:sp><p:pic><p:nvPicPr><p:cNvPr id="5" name="Google Shape;99;p14" descr="image.png"><a:extLst><a:ext uri="{FF2B5EF4-FFF2-40B4-BE49-F238E27FC236}"><a16:creationId xmlns:a16="http://schemas.microsoft.com/office/drawing/2014/main" id="{58BC1821-35FE-521F-2DA3-5C7D193515EA}"/></a:ext></a:extLst></p:cNvPr><p:cNvPicPr preferRelativeResize="0"/><p:nvPr/></p:nvPicPr><p:blipFill rotWithShape="1"><a:blip r:embed="rId7"><a:alphaModFix/></a:blip><a:srcRect/><a:stretch/></p:blipFill><p:spPr><a:xfrm><a:off x="1181100" y="1943100"/><a:ext cx="142875" cy="171450"/></a:xfrm><a:prstGeom prst="rect"><a:avLst/></a:prstGeom><a:noFill/><a:ln><a:noFill/></a:ln></p:spPr></p:pic><p:sp><p:nvSpPr><p:cNvPr id="6" name="Google Shape;102;p14"><a:extLst><a:ext uri="{FF2B5EF4-FFF2-40B4-BE49-F238E27FC236}"><a16:creationId xmlns:a16="http://schemas.microsoft.com/office/drawing/2014/main" id="{B2D1AB45-3A64-10F8-1DA7-8B3CA9B163FB}"/></a:ext></a:extLst></p:cNvPr><p:cNvSpPr txBox="1"/><p:nvPr/></p:nvSpPr><p:spPr><a:xfrm><a:off x="1285875" y="2278380"/><a:ext cx="4308680" cy="276999"/></a:xfrm><a:prstGeom prst="rect"><a:avLst/></a:prstGeom><a:noFill/><a:ln><a:noFill/></a:ln></p:spPr><p:txBody><a:bodyPr spcFirstLastPara="1" wrap="square" lIns="0" tIns="0" rIns="0" bIns="0" anchor="t" anchorCtr="0"><a:spAutoFit/></a:bodyPr><a:lstStyle/><a:p><a:pPr marL="0" marR="0" lvl="0" indent="0" algn="l" rtl="0"><a:spcBef><a:spcPts val="0"/></a:spcBef><a:spcAft><a:spcPts val="0"/></a:spcAft><a:buNone/></a:pPr><a:r><a:rPr lang="en-US" sz="1800" b="0" i="1" u="none" strike="noStrike" cap="none" dirty="0"><a:solidFill><a:srgbClr val="475569"/></a:solidFill><a:latin typeface="Open Sans"/><a:ea typeface="Open Sans"/><a:cs typeface="Open Sans"/><a:sym typeface="Open Sans"/></a:rPr><a:t>• Conventional VTOL: pure electric — limited endurance (~45 min)
• Existing hybrids: parallel architecture adds weight & complexity
• Our approach: series-hybrid with optimal power-split</a:t></a:r><a:endParaRPr dirty="0"/></a:p></p:txBody></p:sp></p:spTree></p:cSld><p:clrMapOvr><a:masterClrMapping/></p:clrMapOvr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PROPOSED METHODOLOGY &amp; TECHNICAL APPROACH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91200" y="6248400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097467AD-63AF-0FA4-4A22-3827DCA0CE2F}"/>
              </a:ext>
            </a:extLst>
          </p:cNvPr>
          <p:cNvSpPr txBox="1"/>
          <p:nvPr/>
        </p:nvSpPr>
        <p:spPr>
          <a:xfrm>
            <a:off x="1102442" y="2337005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PHYSICS-FIRST OPTIMIZATION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5802B9E2-5E32-1BB9-8825-B6165E198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2442" y="2356055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43F6D951-73EB-8D05-A5E5-6A005C60B5A9}"/>
              </a:ext>
            </a:extLst>
          </p:cNvPr>
          <p:cNvSpPr txBox="1"/>
          <p:nvPr/>
        </p:nvSpPr>
        <p:spPr>
          <a:xfrm>
            <a:off x="1207217" y="2691335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5-phase mission: VTOL → Climb → Cruise → Loiter → Descent
• Actuator-disk VTOL model + ISA atmosphere (0–10 km)
• Sobol quasi-random sampling → Pareto-optimal design front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PREPROCESSING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B74A93-26E3-F1F7-7D30-FE25F9EE847C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MISSION PARAMETERS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5033D09-E504-38CB-B770-2303E9818D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B49456A6-D140-09CA-B389-C3B4A5D8C898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HAL constraints: 1,000 kg MTOW, 200 kg payload, 250 km/h cruise
• Physics model: battery (250 Wh/kg), engine (60 kW, BSFC 0.26), structure (3.8 kg/m²)
• ML training data: 2,000 physics simulation samples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ARCHITECTURE / IMPLEMENTATION PLAN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/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01B0AE-D27A-963C-D6AE-71E26950C59A}"/>
              </a:ext>
            </a:extLst>
          </p:cNvPr>
          <p:cNvSpPr txBox="1"/>
          <p:nvPr/>
        </p:nvSpPr>
        <p:spPr>
          <a:xfrm>
            <a:off x="1033616" y="2400747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ARCHITECTURE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C84B963-8A88-75E4-BAF8-56C15D1587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616" y="2419797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7D2B192-726F-6C32-D8C2-70B19266B5D7}"/>
              </a:ext>
            </a:extLst>
          </p:cNvPr>
          <p:cNvSpPr txBox="1"/>
          <p:nvPr/>
        </p:nvSpPr>
        <p:spPr>
          <a:xfrm>
            <a:off x="1138391" y="2755077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Physics engine: ISA density, drag (CD=0.025), battery SOC (4.4C max)
• Pareto optimizer: Sobol sampling, 500 designs, endurance vs mass trade-off
• ML dispatcher: MLPRegressor predicts engine/battery kW split in real time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 &amp; EVALUATION METRICS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D55C873A-1F96-7998-277C-D88752CA52F2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RESULTS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F36492B2-8253-E8AD-6570-9E45F0A5BE3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976FA8F7-DA2F-C0B8-E997-7A4E23985341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Reference design: 1,000 kg MTOW | 17.9 h endurance | 0 violations
• Best endurance: 50.4 h (44.8 kWh, 152.9 kg fuel, 940 kg)
• Power-split: engine at 85% rated (optimal BSFC) during climb, idles in cruise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TEAM COMPOSITION &amp; CONTRIBUTIONS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4ABD59A2-A2B7-A670-E612-92F1A64A16FD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TEAM ZYPHER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4949AB72-4B17-95A0-E642-A53FBBC348A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217B6AF4-75B8-512B-D4DC-E243562B9A32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Anurag: Physics modeling, optimizer, ML dispatcher, dashboard
• Faculty Mentor: IIT Indore Department of Aerospace Engineering
• All source code: github.com/Techie551/HAL-VTOL-Hybrid-Optimizer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1161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APPENDIX &amp; REFERENCES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8F9C2EDD-3F08-E8ED-48BD-532960DFEF16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APPENDIX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BA05A501-DA90-0C56-DCE3-E3FDDFA7FA4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DB0C920-EBA3-583B-82B7-8F2D40D4930F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Source code: github.com/Techie551/HAL-VTOL-Hybrid-Optimizer
• Interactive dashboard: streamlit run dashboard.py
• Unit tests: PYTHONPATH=. python -m unittest tests.test_series_hybrid -v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Montserrat SemiBold</vt:lpstr>
      <vt:lpstr>Open Sans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Saket Jaiswal</cp:lastModifiedBy>
  <cp:revision>1</cp:revision>
  <dcterms:modified xsi:type="dcterms:W3CDTF">2026-07-02T04:45:28Z</dcterms:modified>
</cp:coreProperties>
</file>