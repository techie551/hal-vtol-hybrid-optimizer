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32004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HAL VTOL Series-Hybrid UAV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</a:rPr>
              <a:t>Physics-First Design Space Exploration, Pareto Optimization &amp; ML Power Dispatch
HAL × IIT Indore Aerothon 2026 — Problem Statement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510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HAL × IIT Indore Aerothon 2026   |   Team Zypher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What we built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1.  Problem Statement — HAL mission requirements &amp; design challenge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2.  Why Series-Hybrid? — Architecture advantages over pure electric / parallel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3.  System Architecture — Power train topology and component specs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4.  Physics Engine — ISA atmosphere, VTOL hover, cruise drag, battery SOC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5.  Mass Model — Complete mass budget breakdown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6.  Mission Profile — 5-phase mission: VTOL → Climb → Cruise → Loiter → Descent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7.  Optimal Power-Split — Engine stays at best-BSFC point, battery fills gaps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8.  Pareto Optimization — Sobol quasi-random sampling, 500 designs, endurance frontier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9.  ML Power Dispatcher — MLPRegressor trained on 2,000 physics simulation samples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10. Results — Reference design: 1,000 kg MTOW, 17.9 h endurance, 0 violations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11. Live Dashboard — Streamlit 4-tab UI with live sliders &amp; Pareto visualization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12. Future Work — RL training, thermal model, hardware-in-the-loop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github.com/Techie551/HAL-VTOL-Hybrid-Optimizer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HAL × IIT Indore Aerothon 2026 — Design a VTOL UAV with maximum endurance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Design a series-hybrid VTOL fixed-wing UAV meeting all HAL constraints: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• MTOW ≤ 1,000 kg | Payload = 200 kg | Cruise = 250 km/h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• Cruise altitude: 3,000 – 10,000 m | VTOL capability required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• Min loiter: 30 min | Turboshaft ≤ 60 kW rated | Battery ≤ 50 kWh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Design variables (6 continuous):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• Battery capacity (5–50 kWh) | Fuel load (10–200 kg)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• Rotor disk area (15–80 m²) | Engine load fraction (0.50–1.00)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• Cruise altitude (3,000–10,000 m) | Loiter speed (30–80 m/s)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Objective: Maximize endurance while satisfying all constraints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Feasible region is a small fraction of the 6D design space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Sobol quasi-random sampling resolves the Pareto front efficiently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Optimization: max endurance(x)  s.t. MTOW ≤ 1000 kg, SOC_final ≥ 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Series-Hybrid Architecture?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The series-hybrid topology is the only architecture that allows engine optimization independent of flight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4114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Pure Electric &amp; Parallel Hybrid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Pure electric VTOL: ~45 min endurance ceiling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Battery alone cannot sustain cruise + VTOL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Parallel hybrid: engine mechanically coupled to propeller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Engine speed varies with vehicle speed → off-design BSFC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Additional weight from mechanical transmission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Complex control for engine-motor coordination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Parallel hybrid: 2–4 h typical endurance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5394960" cy="4114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Series-Hybrid Advantages (This Work)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Engine runs at CONSTANT optimal point (51 kW / 85% rated)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Minimum BSFC = 0.26 kg/(kW·h) — best turboshaft efficiency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No mechanical link between engine and propeller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Engine speed is always at its efficiency optimum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Battery handles ALL transient power peaks (VTOL, climb)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Battery charges when engine exceeds cruise requirement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Result: 17.9 h reference endurance — 4× pure electric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Key insight: Engine never leaves its sweet spot. Battery fills/absorbs the difference.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 — Series-Hybrid Power 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Power flows: Turboshaft → Generator → DC Bus ←→ Battery → Electric Motors → VTOL Rotors + Pusher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Turboshaft (60 kW rated, 72 kW 2-min peak, BSFC=0.26 kg/kWh at optimal)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Always runs at 85% rated (51 kW) — minimum fuel consumption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Generator: 95% efficient DC generation from turboshaft shaft power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DC Bus: Common electrical bus connecting all power sources and loads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Battery (34 kWh default, ≤50 kWh per HAL): Li-ion 250 Wh/kg, 4.4C continuous / 5C peak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Handles VTOL burst (up to 146 kW instantaneous)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Charges during cruise excess engine output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VTOL Rotors (45 m² default): 8× lift fans or push-pull rotors on wings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Pure electric for VTOL; fixed-wing pusher for cruise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ECU / ML Dispatcher: Real-time optimal power-split prediction (sklearn MLP)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All power flows through the DC bus — no direct mechanical propulsion link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Physics Engine — ISA Atmosphere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International Standard Atmosphere: air density from sea level to 11,000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Temperature lapse: T(h) = T₀ − L·h = 288.15 − 0.0065·h  [K]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Pressure: P(h) = P₀·(1 − L·h/T₀)^(g·M/(R·L))  [Pa]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Density: ρ(h) = P / (R_air · T)  [kg/m³]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At sea level:  ρ = 1.225 kg/m³  |  At 6,000 m:  ρ = 0.660 kg/m³  (−46%)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At 10,000 m:  ρ = 0.413 kg/m³  (−66%)  |  Drag drops proportionally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Key constants used: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T₀ = 288.15 K  |  P₀ = 101,325 Pa  |  L = 0.0065 K/m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g = 9.81 m/s²  |  M = 0.02896 kg/mol  |  R_air = 287.05 J/(kg·K)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Impact on mission: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Cruise power at 6,000 m is 46% lower than sea level for same speed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VTOL hover power is independent of altitude (ground effect neglected)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Climb benefits from thin air (less drag) but lower engine power density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ISA model validated up to 11,000 m — covers the full HAL altitude envelope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Physics Engine — VTOL &amp; Cruise Power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Actuator disk theory for hover; parasite drag model for cruise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4114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VTOL Hover (Actuator Disk Theory)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Disk loading: W/A = mg/A  [N/m²]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Induced velocity: v_ind = √(W/A / 2ρ)  [m/s]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Mechanical power: P_mech = T·v_ind / η_disk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T = mg (thrust = weight in hover)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η_disk = 0.72 (hover efficiency)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Bus power: P_bus = P_mech / η_inverter × 1.08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η_inverter = 0.95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1.08 = transient collective pitch margin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Reference design: 1,000 kg, 45 m² rotor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Disk loading: 218 N/m²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v_ind: 12.2 m/s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Bus power: ~146 kW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Battery 5C peak = 170 kW → feasible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5394960" cy="4114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Cruise Power (Steady Level Flight)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Parasite drag: D = ½·ρ·v²·CdA  [N]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CdA = 0.032 m² (UAV with rotor mounts)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Propeller power: P_mech = D·v / η_prop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η_prop = 0.65 (pusher prop efficiency)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At 6,000 m, 250 km/h (69.4 m/s):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ρ = 0.660 kg/m³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D = ½ × 0.660 × 69.4² × 0.032 = 51 N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P_cruise = 51 × 69.4 / 0.65 = 5.4 kW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Loiter power (min-drag speed):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P_loiter ≈ 0.80 × P_cruise ≈ 4.3 kW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Mass Model — Complete Mass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MTOW = payload + structure + fuel system + battery +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Component mass equations: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Battery:  m_batt = kWh / 250 × 1000  [kg]     (250 Wh/kg Li-ion)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Rotor:    m_rotor = A_rotor × 3.8  [kg/m²]  (blade + hub density)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Structure: m_struct = 280 + m_rotor  [kg]   (airframe + rotor hubs + genset)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Fuel system: m_fuel = fuel_kg + 8  [kg]    (8 kg fixed tank)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MTOW = 200 + m_struct + m_fuel + m_batt + 60  [systems/margins]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Reference design mass budget: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Payload:         200.0 kg  (fixed by HAL)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Battery (34kWh):  136.0 kg  (34/250×1000)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Rotor (45m²):    171.0 kg  (45×3.8)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Structure:       451.0 kg  (280+171)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Fuel (145kg):    153.0 kg  (145+8 tank)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Systems:          60.0 kg  (avionics, ECS, margins)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─────────────────────────────────────────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MTOW:          1,000.0 kg  ✓ Exactly meets HAL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Structural mass of 280 kg includes: wings(85) + fuselage(100) + tail(25) + rotor hubs(45) + genset(55)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5-Phase Mission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VTOL Takeoff → Climb → Cruise → Loiter → Descent / Landing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PHASE 1 — VTOL Takeoff (60 s):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Pure battery burst; engine at idle (5 kW) for stability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Bus power: ~146 kW; Battery C-rate: ~4.4C (within limit)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PHASE 2 — Climb (to 6,000 m at 8 m/s = 750 s):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Engine at 51 kW (optimal); battery fills climb power peak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Rate: 8 m/s → climb time = altitude / rate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PHASE 3 — Cruise (400 km at 250 km/h = 5,767 s ≈ 1.6 h):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Engine at 51 kW; may slightly exceed requirement → battery charges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Distance: 400 km ÷ 69.4 m/s = 5,767 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PHASE 4 — Loiter (30 min default = 1,800 s):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Minimum per HAL spec; engine at minimum sustainable (2 kW)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Battery provides 0 kW in loiter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PHASE 5 — Descent / Landing (300 s):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Engine drives descent; controlled glide at 3 m/s descent rate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Battery idle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SOC tracked per phase; minimum reserve = 10% (hard constraint)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Optimal Power-Split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Analytically optimal policy: engine at best-BSFC, battery fills/absorbs the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Key insight — the optimal policy is analytically derivable: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Run engine at MINIMUM BSFC operating point always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Let battery fill any shortfall (VTOL, climb peaks)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Let battery absorb any excess (cruise engine surplus)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For a 60 kW turboshaft: best BSFC at ~85% rated = 51 kW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BSFC_best = 0.26 kg/(kW·h) at 51 kW  vs  0.35+ at low load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Per-phase dispatch (reference design):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VTOL:     Engine 5 kW (idle)  | Battery 146 kW  | ~0 fuel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Climb:    Engine 51 kW (opt)   | Battery 76 kW  | 13.3 kg/h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Cruise:   Engine 51 kW (opt)   | Battery 0/charge | 13.3 kg/h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Loiter:   Engine 2 kW (min)    | Battery 0 kW   | 0.5 kg/h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Descent:  Engine 19 kW         | Battery 0 kW   | 4.9 kg/h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Turboshaft NEVER leaves its 51 kW / 85% optimal window → minimum fuel burn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DP objective: min fuel_flow = BSFC × P_engine  s.t. engine ≤ 51 kW, battery ≤ C-rate, SOC ≥ 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Pareto Optimization — Sobol Quasi-Random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500 designs sampled via Sobol low-discrepancy sequence → identify non-dominated frontier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Three sampling strategies implemented: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Grid search: Uniform lattice — predictable but sparse in 6D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Random (MC): Clusters in some regions, gaps in others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Sobol sequence: Low-discrepancy quasi-random — best coverage per 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Sobol advantage in 6D: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Uniform space-filling across all dimensions simultaneously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Avoids Monte Carlo clustering in corners/edges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Pareto front resolved with fewer evaluations (N=500 vs N=5000 MC)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Feasibility filter: MTOW ≤ 1,000 kg → removes ~70% of designs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Pareto filter: O(N²) pairwise non-domination check on remaining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Design space bounds: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Battery 5–50 kWh | Fuel 10–200 kg | Rotor 15–80 m²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ELF 0.50–1.00 | Altitude 3,000–10,000 m | Loiter speed 30–80 m/s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Pareto dominance: A dominates B if endurance_A ≥ endurance_B AND mass_A ≤ mass_B (with at least one strict)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Pareto Front &amp; Reference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Top Pareto-optimal designs; reference design exactly meets HAL MTOW constraint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Battery (kWh)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Fuel (kg)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Rotor (m²)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Mass (kg)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Endurance (h)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 ★ Best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44.8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152.9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15.8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50.4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32.6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33.0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30.1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34.6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28.1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78.2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42.7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28.7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41.2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68.1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25.3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25.1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Ref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★ = HAL constraint exactly met (MTOW = 1,000 kg). Reference design is feasible and Pareto-optimal.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ML Power Dispatcher — MLPRegressor for Real-Time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Trained on 2,000 physics simulation samples; runs on ECU for adaptive power-split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Motivation: analytical solution is optimal for known mission; real flight has uncertainty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Wind gusts change actual climb rate and drag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Battery temperature degrades capacity over mission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Engine wear shifts optimal BSFC point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Mission may deviate from planned profile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Training data generation: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2,000 random designs → evaluate_design() → mission_dispatch_optimize()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Each design produces 5 phase-level records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Features: [phase_id, altitude, speed, SOC, mass, battery_temp]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Labels: [engine_kw, battery_kw, fuel_flow_kg_h]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MLP Architecture: Input(6) → Dense(64, ReLU) → Dense(32) → Dense(16) → Output(3)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Training: Adam, early_stopping, 80/20 train/val split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Typical: R² &gt; 0.98 on validation, MAE &lt; 2 kW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RL environment also provided (Gym-style) for policy-gradient training (PPO/SAC)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Model inference: ~1 ms on embedded MCU — suitable for real-time ECU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Interactive Dashboard — Streamlit 4-Tab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Live sliders, phase charts, Pareto front, ML architecture, equations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4114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Tab 1: Mission Simulator  |  Tab 2: Pareto Front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6 design variable sliders: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Battery (5–50 kWh)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Fuel (10–200 kg)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Rotor area (15–80 m²)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Engine load fraction (0.5–1.0)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Cruise altitude (3–10 km)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Loiter speed (30–80 m/s)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Live mass budget display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Phase-by-phase power table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SOC trajectory chart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Tab 2: Pareto Front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Scatter: mass vs endurance (300 designs)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Pareto-optimal points in blue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Reference design in red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Hover for design details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5394960" cy="4114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Tab 3: ML Dispatcher  |  Tab 4: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Tab 3: ML Dispatcher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MLP architecture diagram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Feature importance display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Predicted vs actual power split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R² and MAE metrics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Tab 4: Equations Reference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All physics formulas rendered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Constant reference table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Phase power calculations step-by-step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Launch: streamlit run dashboard.py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0F172A"/>
                </a:solidFill>
              </a:rPr>
              <a:t>    → http://localhost:8501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Dashboard is self-contained; requires only: streamlit, plotly, pandas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Physics Equations — Quick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All formulas implemented in vtol_optimizer/__init__.py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ISA Density: ρ(h) = P₀(1−Lh/T₀)^(gM/RL) / (R_air·(T₀−Lh))  [kg/m³]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VTOL Hover: P_bus = mg·√(mg/(2ρA)) / (η_disk·η_inv) × 1.08  [kW]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Cruise Drag: D = ½ρv²·CdA  [N];  P = D·v/η_prop  [kW]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Climb Power: P_climb = mg·ṙ / 0.62  [kW]  (ṙ = climb rate m/s)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Loiter Power: P_loiter = 0.80 × P_cruise(v_cruise)  [kW]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Battery mass: m_batt = kWh/250 × 1000  [kg]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Rotor mass: m_rotor = A × 3.8  [kg]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MTOW = 200 + (280+A×3.8) + (fuel+8) + kWh/250×1000 + 60  [kg]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SOC update: SOC_new = SOC − P_batt·Δt/(kWh·η_inv) + P_charge·Δt/(kWh)  [%]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Engine fuel: ṁ_fuel = BSFC × P_engine  [kg/h];  BSFC_best = 0.26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Endurance extension: Δt_fuel = fuel_left / (BSFC·P_engine)  [h]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Constants: g=9.81, η_rotor=0.72, η_prop=0.65, η_inv=0.95, CdA=0.032 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Full derivation and validation in: HAL_VTOL_Project_Document.md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What we built — and 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Delivered (this work):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✓ Physics engine: ISA, VTOL hover, cruise, climb, SOC, fuel burn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✓ Mass model: exactly 1,000 kg MTOW, 0 constraint violations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✓ Pareto optimizer: Sobol sampling, 500 designs, endurance frontier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✓ Optimal dispatch: engine always at 51 kW / 85% (best BSFC)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✓ ML dispatcher: MLPRegressor trained on 2,000 physics samples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✓ Dashboard: Streamlit 4-tab interactive UI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✓ Unit tests: 3/3 physics assertions verified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Future extensions: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Sensitivity analysis: Monte Carlo uncertainty propagation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Multi-objective: NSGA-II for emission/cost objectives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RL training: PPO on PowerDispatchEnv for adaptive dispatch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Thermal model: battery temp-dependent capacity &amp; C-rate limits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HIL validation: validate physics model against turboshaft test data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72A"/>
                </a:solidFill>
              </a:rPr>
              <a:t>    → Structural optimization: coupled rotor sizing + weight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github.com/Techie551/HAL-VTOL-Hybrid-Optimizer   |   All code open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HAL VTOL Series-Hybrid Optimizer — Team Zypher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